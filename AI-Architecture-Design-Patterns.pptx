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39712" y="896112"/>
            <a:ext cx="1005840" cy="64008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91272" y="1581912"/>
            <a:ext cx="731520" cy="-82296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91272" y="1581912"/>
            <a:ext cx="-457200" cy="100584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496" y="2551176"/>
            <a:ext cx="1005840" cy="64008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3246120"/>
            <a:ext cx="-1645920" cy="45720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3246120"/>
            <a:ext cx="-365760" cy="118872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91272" y="1581912"/>
            <a:ext cx="1005840" cy="64008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3246120"/>
            <a:ext cx="457200" cy="-1005840"/>
          </a:xfrm>
          <a:prstGeom prst="line">
            <a:avLst/>
          </a:prstGeom>
          <a:noFill/>
          <a:ln w="12700">
            <a:solidFill>
              <a:srgbClr val="4F46E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82296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0" y="1463040"/>
            <a:ext cx="237744" cy="237744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640080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2468880"/>
            <a:ext cx="164592" cy="164592"/>
          </a:xfrm>
          <a:prstGeom prst="ellipse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310896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3566160"/>
            <a:ext cx="128016" cy="128016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429768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2103120"/>
            <a:ext cx="109728" cy="109728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07899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REFERENCE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1389888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Architecture &amp;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502920" y="3063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patterns, reference architectures, and use-case playbooks for designing and implementing AI-based solutions in the enterprise.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Implementation Architect &amp; Strategy    ·    Reference Edition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Question: Does This Problem Need AI?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expensive AI mistake is solving a deterministic problem with a probabilistic 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664208"/>
            <a:ext cx="420624" cy="420624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1765158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709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Deterministic When…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" y="2139696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fully enumerable — validations, reconciliations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Exactness is non-negotiable — financial postings, regulatory calculations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structured and stable; SQL / dbt / rules engines win on cost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must reproduce the answer bit-for-bit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1463040"/>
            <a:ext cx="4069080" cy="2103120"/>
          </a:xfrm>
          <a:prstGeom prst="roundRect">
            <a:avLst>
              <a:gd name="adj" fmla="val 347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73752" y="16642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702" y="176515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392" y="1709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AI When…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73752" y="217627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unstructured — documents, email, code, conversation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interpretation, synthesis, or generation, not lookup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with review” beats “perfect but never shipped”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would be endless edge-case whack-a-mole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767328"/>
            <a:ext cx="20116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28" y="3877056"/>
            <a:ext cx="329184" cy="32918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" y="3956060"/>
            <a:ext cx="171176" cy="171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tolerance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85216" y="424281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of a wrong answer, and who catches it?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587752" y="3767328"/>
            <a:ext cx="20116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697480" y="3877056"/>
            <a:ext cx="329184" cy="32918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484" y="3956060"/>
            <a:ext cx="171176" cy="171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099816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readiness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2715768" y="424281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knowledge digitized, governed, and retrievable?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18304" y="3767328"/>
            <a:ext cx="20116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28032" y="3877056"/>
            <a:ext cx="329184" cy="32918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036" y="3956060"/>
            <a:ext cx="171176" cy="171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30368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846320" y="424281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accountability sit — assist, review, or autonomy?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848856" y="3767328"/>
            <a:ext cx="20116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958584" y="3877056"/>
            <a:ext cx="329184" cy="32918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7588" y="3956060"/>
            <a:ext cx="171176" cy="1711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60920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976872" y="424281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define an eval and a baseline before building?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Capability Ladder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simple, escalate deliberately. Each rung adds cost, latency, and operational burden. Climb only when evals prove the rung below is insufficient.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75104" cy="26060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673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22402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Prompt Engineering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3504" y="27157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few-shot examples, structured output schemas.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3504" y="339242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the model already knows; you only need control.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3504" y="38404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lowest · Days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432304" y="26060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►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33472" y="1508760"/>
            <a:ext cx="1975104" cy="2606040"/>
          </a:xfrm>
          <a:prstGeom prst="roundRect">
            <a:avLst>
              <a:gd name="adj" fmla="val 3704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79776" y="1673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78308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79776" y="22402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RAG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779776" y="27157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model in your documents and data at query time.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79776" y="339242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answers depend on private, changing knowledge.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779776" y="38404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low–mid · Weeks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608576" y="26060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►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09744" y="1508760"/>
            <a:ext cx="1975104" cy="2606040"/>
          </a:xfrm>
          <a:prstGeom prst="roundRect">
            <a:avLst>
              <a:gd name="adj" fmla="val 3704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956048" y="1673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178308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956048" y="22402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Fine-Tuning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4956048" y="27157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weights for tone, format, or narrow-domain behavior.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956048" y="339242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prompting + RAG can't hit the quality bar.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956048" y="38404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mid–high · Weeks+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784848" y="26060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►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986016" y="1508760"/>
            <a:ext cx="1975104" cy="260604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132320" y="1673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1783080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0" y="22402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Agentic Systems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7132320" y="27157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tool use, planning, and autonomous workflows.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7132320" y="339242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the task is a process, not a single answer.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7132320" y="38404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highest · Months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Architect's rule: a failed eval — not enthusiasm — is the only valid reason to climb a rung.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· PATTERN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(RAG)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pattern for grounding LLMs in enterprise knowledge — auditable, current, and cheaper than fine-tuning.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562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11226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wikis · DBs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tickets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28216" y="209397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5376" y="178308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65376" y="18562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11096" y="211226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chunk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· embed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36392" y="209397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178308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73552" y="18562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9272" y="211226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(hybrid)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44568" y="209397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178308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1728" y="18562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27448" y="211226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+ rerank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52744" y="209397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9904" y="178308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9904" y="18562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35624" y="211226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guardrails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0920" y="209397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1783080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18562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43800" y="211226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trace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14813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 ·  INDEXING 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81728" y="14813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 ·  QUERY PATH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" y="309067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5" y="3174065"/>
            <a:ext cx="180685" cy="18068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24128" y="30815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strategy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024128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&gt; fixed-size. Preserve tables and headings; chunk size is your #1 retrieval-quality lever.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663440" y="2971800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4782312" y="309067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05" y="3174065"/>
            <a:ext cx="180685" cy="18068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230368" y="30815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5230368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 + BM25 + reranker. Pure vector search fails on IDs, codes, and exact terms.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57200" y="3977640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</p:sp>
      <p:sp>
        <p:nvSpPr>
          <p:cNvPr id="41" name="Shape 37"/>
          <p:cNvSpPr/>
          <p:nvPr/>
        </p:nvSpPr>
        <p:spPr>
          <a:xfrm>
            <a:off x="576072" y="409651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" y="4179905"/>
            <a:ext cx="180685" cy="180685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024128" y="40873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as contract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1024128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links to a source span — the audit trail regulators and users both need.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4663440" y="3977640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</p:sp>
      <p:sp>
        <p:nvSpPr>
          <p:cNvPr id="46" name="Shape 41"/>
          <p:cNvSpPr/>
          <p:nvPr/>
        </p:nvSpPr>
        <p:spPr>
          <a:xfrm>
            <a:off x="4782312" y="409651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705" y="4179905"/>
            <a:ext cx="180685" cy="180685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230368" y="40873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pipeline</a:t>
            </a:r>
            <a:endParaRPr lang="en-US" sz="1150" dirty="0"/>
          </a:p>
        </p:txBody>
      </p:sp>
      <p:sp>
        <p:nvSpPr>
          <p:cNvPr id="49" name="Text 43"/>
          <p:cNvSpPr/>
          <p:nvPr/>
        </p:nvSpPr>
        <p:spPr>
          <a:xfrm>
            <a:off x="5230368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re-indexing with CDC; stale indexes silently rot answer quality.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· PATTERN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Design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trade predictability for capability. Pick the least autonomous pattern that completes the workflow.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69080" cy="1572768"/>
          </a:xfrm>
          <a:prstGeom prst="roundRect">
            <a:avLst>
              <a:gd name="adj" fmla="val 465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6276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76" y="1719804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Loop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9385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observe, iterating until done.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" y="2368296"/>
            <a:ext cx="3739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exploratory tasks with uncertain steps — debugging, research, triage.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1792" y="2761488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loops and drift; cap iterations and tokens.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481328"/>
            <a:ext cx="4069080" cy="1572768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9744" y="16276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916" y="1719804"/>
            <a:ext cx="199705" cy="1997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Plan-then-Execute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03520" y="19385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drafts the full task graph; executors run steps with checkpoints.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28032" y="2368296"/>
            <a:ext cx="3739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long, auditable workflows — migrations, report generation.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828032" y="2761488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brittle plans; re-plan on step failure.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3218688"/>
            <a:ext cx="4069080" cy="1572768"/>
          </a:xfrm>
          <a:prstGeom prst="roundRect">
            <a:avLst>
              <a:gd name="adj" fmla="val 465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" y="33649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76" y="3457164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Orchestrator–Workers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097280" y="3675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agent decomposes and routes to specialized sub-agents/tools.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1792" y="4105656"/>
            <a:ext cx="3739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heterogeneous tasks — SQL agent + doc agent + API agent.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21792" y="4498848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context loss at hand-offs; share state explicitly.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663440" y="3218688"/>
            <a:ext cx="4069080" cy="1572768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809744" y="33649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916" y="3457164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03520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/ Evaluator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303520" y="3675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 model scores and revises the generator's output before release.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828032" y="4105656"/>
            <a:ext cx="3739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quality-critical output — code, legal drafts, client comms.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828032" y="4498848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cost doubles; reserve for high-stakes paths.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· PATTERN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Serving &amp; Deployment Topologies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data classification: the same application can use all three behind one model gateway.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6093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65" y="1705905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664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API (SaaS)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1792" y="21762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21792" y="23408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APIs (Anthropic, etc.)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1792" y="26791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21792" y="284378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models, zero ops, instant scale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1792" y="31821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POSTURE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1792" y="334670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internal-approved data only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1792" y="36850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21792" y="384962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Per-token, elastic, no idle spend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1792" y="418795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1792" y="435254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Prototypes, copilots, general reasoning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64992" y="146304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11296" y="16093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57" y="1705905"/>
            <a:ext cx="209215" cy="20921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86784" y="1664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/ VPC Endpoint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3529584" y="21762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529584" y="23408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Bedrock, Azure OpenAI, Vertex private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529584" y="26791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3529584" y="284378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controls + strong models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529584" y="31821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POSTURE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3529584" y="334670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 within cloud tenancy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529584" y="36850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529584" y="384962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or provisioned throughput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529584" y="418795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3529584" y="435254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production workloads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272784" y="146304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419088" y="16093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649" y="1705905"/>
            <a:ext cx="209215" cy="209215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894576" y="1664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/ Air-Gapped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6437376" y="21762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6437376" y="23408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 llama.cpp on owned GPUs, K8s/OpenShift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437376" y="26791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6437376" y="284378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residency, no egress, fixed cost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6437376" y="31821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POSTURE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6437376" y="334670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/ highest-sensitivity data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6437376" y="36850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6437376" y="384962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GPUs + ops; cheap at steady load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6437376" y="418795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6437376" y="435254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estates, IP-sensitive code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pattern: a model gateway (routing, auth, quotas, fallback, audit) decouples apps from providers — swap models without rewriting applications.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PATTERNS ·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 Engineering Trust Into the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architecture, not an afterthought — design them before the first production query.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61" y="1632753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81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input defense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5840" y="175564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sanitize, and classify every prompt. Treat retrieved documents and tool outputs as untrusted input — they are the prompt-injection surface.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53619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001" y="1632753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481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 contracts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212080" y="175564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JSON schemas and typed function calls; reject and retry on parse failure. Never regex a free-text answer into a downstream system.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72491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1" y="2821473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6700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PII controls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005840" y="294436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sensitive entities before the model, filter policy violations after it. Classified data never egresses to an unapproved endpoint.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272491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001" y="2821473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26700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gates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212080" y="294436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checkpoints wherever actions are irreversible — database writes, payments, client communications, production deploys.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" y="391363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61" y="4010193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38587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&amp; circuit breakers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005840" y="413308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ceilings, cost caps, timeouts, and iteration limits per request. On breach, fail safe to a deterministic fallback path.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663440" y="391363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0001" y="4010193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12080" y="38587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decision audit trail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212080" y="413308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prompt, retrieved context, model + version, parameters, response, and human decision for every call. Replayability is the audit story.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PATTERNS ·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&amp; Hallucination Mitigation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ungrounded claim as a defect.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not a model bug to apologize for — it is a system behavior your architecture either permits or prevents.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zero uncited claims in regulated output.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444752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3730752" y="16276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924" y="1719804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33672" y="15361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Citation-or-silence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33672" y="17830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factual claim must carry a source span from retrieval. No source, no claim — the model abstains instead.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611880" y="2286000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5F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3730752" y="24688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924" y="2561052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33672" y="23774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chains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233672" y="262432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pass (rubric-driven LLM-as-judge or rules) checks each claim against the retrieved evidence before release.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3611880" y="3127248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/>
        </p:spPr>
      </p:sp>
      <p:sp>
        <p:nvSpPr>
          <p:cNvPr id="20" name="Shape 16"/>
          <p:cNvSpPr/>
          <p:nvPr/>
        </p:nvSpPr>
        <p:spPr>
          <a:xfrm>
            <a:off x="3730752" y="33101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924" y="3402300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233672" y="32186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abstention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233672" y="346557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retrieval-score thresholds route low-certainty queries to a human or an honest “I don't know.”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3611880" y="3968496"/>
            <a:ext cx="5074920" cy="786384"/>
          </a:xfrm>
          <a:prstGeom prst="roundRect">
            <a:avLst>
              <a:gd name="adj" fmla="val 6977"/>
            </a:avLst>
          </a:prstGeom>
          <a:solidFill>
            <a:srgbClr val="F5F3FF"/>
          </a:solidFill>
          <a:ln/>
        </p:spPr>
      </p:sp>
      <p:sp>
        <p:nvSpPr>
          <p:cNvPr id="25" name="Shape 20"/>
          <p:cNvSpPr/>
          <p:nvPr/>
        </p:nvSpPr>
        <p:spPr>
          <a:xfrm>
            <a:off x="3730752" y="41513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924" y="4243548"/>
            <a:ext cx="199705" cy="19970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233672" y="40599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Golden-set regression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233672" y="430682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eval datasets with scored rubrics run on every prompt, model, or index change — quality gates in CI, not vibes.</a:t>
            </a:r>
            <a:endParaRPr lang="en-US" sz="980" dirty="0"/>
          </a:p>
        </p:txBody>
      </p:sp>
      <p:sp>
        <p:nvSpPr>
          <p:cNvPr id="29" name="Text 2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PATTERNS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 for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is downstream of data quality — the medallion warehouse you already govern becomes the certified feed for every AI serving store.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353312" cy="96012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007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immutable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capture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92224" y="19385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8528" y="1600200"/>
            <a:ext cx="1353312" cy="9601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17007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4248" y="19385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conformed,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DQ-tested entities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73552" y="19385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19856" y="1600200"/>
            <a:ext cx="1353312" cy="960120"/>
          </a:xfrm>
          <a:prstGeom prst="roundRect">
            <a:avLst>
              <a:gd name="adj" fmla="val 6667"/>
            </a:avLst>
          </a:prstGeom>
          <a:solidFill>
            <a:srgbClr val="FEF9C3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9856" y="17007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65576" y="193852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Business-certified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&amp; metrics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64608" y="19385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6360" y="1481328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49240" y="1591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SERVING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49240" y="1810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certified, DQ-gated data is embedded, indexed, or served as model context. Broken pipelines must fail loudly — never silently feed a stale index.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108960"/>
            <a:ext cx="384048" cy="384048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3201132"/>
            <a:ext cx="199705" cy="19970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60704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12648" y="3575304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metadata for retrieval. Index from Gold/Silver with lineage tags; re-embed incrementally on change-data-capture.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364992" y="29718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02152" y="3108960"/>
            <a:ext cx="384048" cy="384048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324" y="3201132"/>
            <a:ext cx="199705" cy="19970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968496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&amp; context stores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3520440" y="3575304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features for classic ML; entity context (client, account, position) assembled per request for LLM prompts.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272784" y="29718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409944" y="3108960"/>
            <a:ext cx="384048" cy="384048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116" y="3201132"/>
            <a:ext cx="199705" cy="19970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76288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6428232" y="3575304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metric definitions and schema descriptions — the contract that makes NL-to-SQL and analytics agents trustworthy.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PATTERNS ·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LLMOps: Evaluate, Observe, Improve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measure it, you shipped a demo, not a 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75104" cy="2286000"/>
          </a:xfrm>
          <a:prstGeom prst="roundRect">
            <a:avLst>
              <a:gd name="adj" fmla="val 3704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6093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454" y="1710294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21396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Offline Evaluation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" y="2578608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 with rubric scoring; LLM-as-judge calibrated against human graders. Cover happy paths, edge cases, and adversarial inputs.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32304" y="2468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33472" y="1463040"/>
            <a:ext cx="1975104" cy="2286000"/>
          </a:xfrm>
          <a:prstGeom prst="roundRect">
            <a:avLst>
              <a:gd name="adj" fmla="val 3704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79776" y="16093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726" y="1710294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9776" y="21396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Release Gates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79776" y="2578608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models, and indexes are versioned artifacts. Eval thresholds gate promotion in CI/CD — a prompt change is a code change.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08576" y="2468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►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09744" y="1463040"/>
            <a:ext cx="1975104" cy="228600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56048" y="16093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998" y="1710294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56048" y="21396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Online Observability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956048" y="2578608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traces per request: latency, token cost, retrieval hits, guardrail triggers, drift signals, and user feedback capture.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784848" y="2468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►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986016" y="1463040"/>
            <a:ext cx="1975104" cy="228600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132320" y="16093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270" y="1710294"/>
            <a:ext cx="218724" cy="2187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21396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Failure Mining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132320" y="2578608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production failures, convert them into new eval cases, fix via prompt / retrieval / data — and the loop tightens every release.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40050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Groundedness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42428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claims with valid citation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2107692" y="40050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success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2107692" y="42428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score vs. golden set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3758184" y="40050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outcome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3758184" y="42428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resolved task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5408676" y="40050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latency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408676" y="42428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incl. retrieval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7059168" y="40050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7059168" y="424281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resolved without human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Prioritization: Value vs. Feasibility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quick wins first — they fund the platform that makes strategic bets feasible.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371600" y="1508760"/>
            <a:ext cx="2468880" cy="1508760"/>
          </a:xfrm>
          <a:prstGeom prst="rect">
            <a:avLst/>
          </a:prstGeom>
          <a:solidFill>
            <a:srgbClr val="F5F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618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BETS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workflow agents · client-facing advisory · complex multi-system automation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0" y="1508760"/>
            <a:ext cx="2468880" cy="1508760"/>
          </a:xfrm>
          <a:prstGeom prst="rect">
            <a:avLst/>
          </a:prstGeom>
          <a:solidFill>
            <a:srgbClr val="EEF2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618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— START HERE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18928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assistant · document extraction · engineering copilots · meeting &amp; ticket summarization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71600" y="3017520"/>
            <a:ext cx="2468880" cy="1508760"/>
          </a:xfrm>
          <a:prstGeom prst="rect">
            <a:avLst/>
          </a:prstGeom>
          <a:solidFill>
            <a:srgbClr val="F8FA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1272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/ DEFER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40156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chatbots · AI for problems a SQL query solves · ungoverned shadow pilots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3017520"/>
            <a:ext cx="2468880" cy="1508760"/>
          </a:xfrm>
          <a:prstGeom prst="rect">
            <a:avLst/>
          </a:prstGeom>
          <a:solidFill>
            <a:srgbClr val="ECFE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1272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340156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drafting · translation &amp; tone · internal search ranking · test-data generation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371600" y="4526280"/>
            <a:ext cx="4937760" cy="0"/>
          </a:xfrm>
          <a:prstGeom prst="line">
            <a:avLst/>
          </a:prstGeom>
          <a:noFill/>
          <a:ln w="25400">
            <a:solidFill>
              <a:srgbClr val="1E1B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1508760"/>
            <a:ext cx="0" cy="3017520"/>
          </a:xfrm>
          <a:prstGeom prst="line">
            <a:avLst/>
          </a:prstGeom>
          <a:noFill/>
          <a:ln w="25400">
            <a:solidFill>
              <a:srgbClr val="1E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►   (data readiness · risk tolerance · integration effort)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 rot="16200000">
            <a:off x="-8686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 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50876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1673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LENS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1947672"/>
            <a:ext cx="16276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hours saved × frequency × seniority + risk reduced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data quality, error tolerance, integration surface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quarterly — feasibility rises as your platform matures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→ Pattern Mapping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below maps to the reference patterns — build the pattern once, reuse it across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184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710660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Operations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" y="208483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procedure Q&amp;A, onboarding assistants, expert finders.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612648" y="268833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citations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64992" y="1481328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02152" y="16184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324" y="1710660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68496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0440" y="208483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KYC extraction, invoice capture, filings comparison.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3520440" y="268833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+ HITL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72784" y="1481328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9944" y="16184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116" y="1710660"/>
            <a:ext cx="199705" cy="1997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76288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Productivity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28232" y="2084832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copilots, SQL generation, pipeline docs, test generation.</a:t>
            </a:r>
            <a:endParaRPr lang="en-US" sz="980" dirty="0"/>
          </a:p>
        </p:txBody>
      </p:sp>
      <p:sp>
        <p:nvSpPr>
          <p:cNvPr id="22" name="Text 17"/>
          <p:cNvSpPr/>
          <p:nvPr/>
        </p:nvSpPr>
        <p:spPr>
          <a:xfrm>
            <a:off x="6428232" y="268833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+ agentic tools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3200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94360" y="33375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2" y="3429732"/>
            <a:ext cx="199705" cy="19970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60704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Operations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12648" y="38039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triage, drafted responses, call summarization &amp; QA.</a:t>
            </a:r>
            <a:endParaRPr lang="en-US" sz="980" dirty="0"/>
          </a:p>
        </p:txBody>
      </p:sp>
      <p:sp>
        <p:nvSpPr>
          <p:cNvPr id="28" name="Text 22"/>
          <p:cNvSpPr/>
          <p:nvPr/>
        </p:nvSpPr>
        <p:spPr>
          <a:xfrm>
            <a:off x="612648" y="440740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guardrails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364992" y="3200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502152" y="33375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324" y="3429732"/>
            <a:ext cx="199705" cy="19970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68496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520440" y="38039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mapping, alert disposition support, audit prep.</a:t>
            </a:r>
            <a:endParaRPr lang="en-US" sz="980" dirty="0"/>
          </a:p>
        </p:txBody>
      </p:sp>
      <p:sp>
        <p:nvSpPr>
          <p:cNvPr id="34" name="Text 27"/>
          <p:cNvSpPr/>
          <p:nvPr/>
        </p:nvSpPr>
        <p:spPr>
          <a:xfrm>
            <a:off x="3520440" y="440740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verifier + audit trail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272784" y="3200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409944" y="33375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116" y="3429732"/>
            <a:ext cx="199705" cy="19970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76288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Reporting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428232" y="38039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on a semantic layer, narrative commentary on metrics.</a:t>
            </a:r>
            <a:endParaRPr lang="en-US" sz="980" dirty="0"/>
          </a:p>
        </p:txBody>
      </p:sp>
      <p:sp>
        <p:nvSpPr>
          <p:cNvPr id="40" name="Text 32"/>
          <p:cNvSpPr/>
          <p:nvPr/>
        </p:nvSpPr>
        <p:spPr>
          <a:xfrm>
            <a:off x="6428232" y="440740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+ agents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PATTERNS ·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Risk &amp; Governance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61" y="1605321"/>
            <a:ext cx="209215" cy="2092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43560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 Top 10 first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46120" y="1435608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insecure output handling, and sensitive-data disclosure dominate real incidents. Threat-model the AI path like any internet-facing system.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203704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61" y="2300265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13055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agents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246120" y="213055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agents get scoped, revocable credentials — never a service account with broad write access. Every tool call is authorized and logged.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898648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1" y="299520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282549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Classification-driven routing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246120" y="2825496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decides which model topology a request may use. Restricted data never leaves the controlled boundary.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593592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1" y="3690153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352044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management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3246120" y="3520440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of models &amp; prompts, documented validation, change control, periodic review — treat AI like any other model under MRM discipline.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4288536"/>
            <a:ext cx="402336" cy="40233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61" y="4385097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4128" y="421538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&amp; lock-in review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246120" y="4215384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terms, data-retention clauses, audit-log portability, and exit paths reviewed before — not after — a provider becomes load-bearing.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Regulated-industry lens: examiners will ask for the audit trail, validation evidence, and accountability chain.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Reference Blueprint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cross-cutting governance plane — every pattern in this deck has a home here.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355080" cy="603504"/>
          </a:xfrm>
          <a:prstGeom prst="roundRect">
            <a:avLst>
              <a:gd name="adj" fmla="val 9091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copilots · IDE / Office embeds · product APIs · workflow surfaces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6355080" cy="603504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3969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77440" y="2139696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workflows · prompt management · tool registry · HITL queues · memory/state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6355080" cy="603504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816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Gateway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2816352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fallback · caching · quotas &amp; budgets · safety filters · provider abstraction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7200" y="3493008"/>
            <a:ext cx="6355080" cy="603504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49300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&amp;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3493008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feature stores · medallion warehouse · semantic layer · ingestion pipelines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57200" y="4169664"/>
            <a:ext cx="6355080" cy="603504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16966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4169664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&amp; inference runtime · Kubernetes / cloud · secrets &amp; networking · CI/CD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995160" y="1463040"/>
            <a:ext cx="1691640" cy="3310128"/>
          </a:xfrm>
          <a:prstGeom prst="roundRect">
            <a:avLst>
              <a:gd name="adj" fmla="val 4324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1627632"/>
            <a:ext cx="457200" cy="457200"/>
          </a:xfrm>
          <a:prstGeom prst="ellipse">
            <a:avLst/>
          </a:prstGeom>
          <a:solidFill>
            <a:srgbClr val="2A256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1737360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32320" y="21762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Observability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132320" y="27889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· traces · cost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· audit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model risk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132320" y="4206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across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→ Harden → Scale → Platformize. Capability compounds: each phase's exit criteria are the next phase's foundation.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627632"/>
            <a:ext cx="420624" cy="420624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6459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" y="22311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quick-win use cases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+ baseline before build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APIs; minimal integration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measured lift vs. baseline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432304" y="27157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1481328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79776" y="1627632"/>
            <a:ext cx="420624" cy="420624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2779776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16459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79776" y="22311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gateway, observability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model-risk review passed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workflows in production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79776" y="387705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production SLOs met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608576" y="27157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9744" y="1481328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6048" y="1627632"/>
            <a:ext cx="420624" cy="420624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68112" y="16459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68112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56048" y="22311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pattern library &amp; templates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expansion across domains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FinOps: cost per outcome tracked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56048" y="387705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2nd use case ships in weeks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784848" y="27157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86016" y="1481328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0" y="1627632"/>
            <a:ext cx="420624" cy="420624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44384" y="16459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Platformize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44384" y="1901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months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22311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 product teams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where evals allow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portfolio &amp; routing optimization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0" y="387705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AI is a platform, not projects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Architect's Checklist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2A256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02" y="1687982"/>
            <a:ext cx="190195" cy="190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984" y="1600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solution lost on merit — not on novelty.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2A25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42" y="1687982"/>
            <a:ext cx="190195" cy="1901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21224" y="1600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and the baseline existed before the first line of code.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441448"/>
            <a:ext cx="365760" cy="365760"/>
          </a:xfrm>
          <a:prstGeom prst="ellipse">
            <a:avLst/>
          </a:prstGeom>
          <a:solidFill>
            <a:srgbClr val="2A256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" y="2529230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14984" y="244144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grounded, cited, and replayable for audit.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709160" y="2441448"/>
            <a:ext cx="365760" cy="365760"/>
          </a:xfrm>
          <a:prstGeom prst="ellipse">
            <a:avLst/>
          </a:prstGeom>
          <a:solidFill>
            <a:srgbClr val="2A256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42" y="2529230"/>
            <a:ext cx="190195" cy="1901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21224" y="244144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and human gates sit wherever errors are irreversible.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3282696"/>
            <a:ext cx="365760" cy="365760"/>
          </a:xfrm>
          <a:prstGeom prst="ellipse">
            <a:avLst/>
          </a:prstGeom>
          <a:solidFill>
            <a:srgbClr val="2A256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" y="3370478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14984" y="328269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be swapped at the gateway without rewriting the app.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709160" y="3282696"/>
            <a:ext cx="365760" cy="365760"/>
          </a:xfrm>
          <a:prstGeom prst="ellipse">
            <a:avLst/>
          </a:prstGeom>
          <a:solidFill>
            <a:srgbClr val="2A2566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942" y="3370478"/>
            <a:ext cx="190195" cy="1901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21224" y="328269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outcome — not cost per token — is tracked from day one.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502920" y="4224528"/>
            <a:ext cx="8138160" cy="0"/>
          </a:xfrm>
          <a:prstGeom prst="line">
            <a:avLst/>
          </a:prstGeom>
          <a:noFill/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make AI dependable. Evals make it trustworthy. Governance makes it durable.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Architecture &amp; Design Patterns</dc:title>
  <dc:subject>PptxGenJS Presentation</dc:subject>
  <dc:creator>AI Implementation Architecture &amp; Strategy</dc:creator>
  <cp:lastModifiedBy>AI Implementation Architecture &amp; Strategy</cp:lastModifiedBy>
  <cp:revision>1</cp:revision>
  <dcterms:created xsi:type="dcterms:W3CDTF">2026-06-11T21:31:24Z</dcterms:created>
  <dcterms:modified xsi:type="dcterms:W3CDTF">2026-06-11T21:31:24Z</dcterms:modified>
</cp:coreProperties>
</file>