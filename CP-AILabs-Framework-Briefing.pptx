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920240"/>
            <a:ext cx="5669280" cy="566928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0" y="3840480"/>
            <a:ext cx="2926080" cy="2926080"/>
          </a:xfrm>
          <a:prstGeom prst="ellipse">
            <a:avLst/>
          </a:prstGeom>
          <a:solidFill>
            <a:srgbClr val="0E7C7B">
              <a:alpha val="45000"/>
            </a:srgbClr>
          </a:solidFill>
          <a:ln w="12700">
            <a:solidFill>
              <a:srgbClr val="0E7C7B">
                <a:alpha val="4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PARTNERS · PLATFORM &amp; TECHNOLOGY SOLUTION ARCHITECTURE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Agentic AI Framework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CE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CP × AI Labs Operating Contract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77240" y="3977640"/>
            <a:ext cx="3840480" cy="0"/>
          </a:xfrm>
          <a:prstGeom prst="line">
            <a:avLst/>
          </a:prstGeom>
          <a:noFill/>
          <a:ln w="3175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206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owns the demand, the standards, and the target-state.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Labs owns the platform. Neither builds the other’s half.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of the CP LOB Architect to AI Labs Leadership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5A6B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THIS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audiences, one framework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thesis for everyone — an enterprise AI capability, not 25 chatbots. Each audience has a fast path.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2743200" cy="3383280"/>
          </a:xfrm>
          <a:prstGeom prst="roundRect">
            <a:avLst>
              <a:gd name="adj" fmla="val 2667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04672" y="2560320"/>
            <a:ext cx="457200" cy="45720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32004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Labs Leadership / CTO–CDO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77240" y="3977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first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77240" y="422452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· Ownership · Success metrics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77240" y="5029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a fundable platform program?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10712" y="2286000"/>
            <a:ext cx="2743200" cy="3383280"/>
          </a:xfrm>
          <a:prstGeom prst="roundRect">
            <a:avLst>
              <a:gd name="adj" fmla="val 2667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66744" y="2560320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5" name="Text 13"/>
          <p:cNvSpPr/>
          <p:nvPr/>
        </p:nvSpPr>
        <p:spPr>
          <a:xfrm>
            <a:off x="3666744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39312" y="32004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Labs Engineering Leads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39312" y="3977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first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39312" y="422452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ask · Intake→Production · Eval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639312" y="5029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we build, and what is ‘done’?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72784" y="2286000"/>
            <a:ext cx="2743200" cy="3383280"/>
          </a:xfrm>
          <a:prstGeom prst="roundRect">
            <a:avLst>
              <a:gd name="adj" fmla="val 2667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528816" y="2560320"/>
            <a:ext cx="457200" cy="457200"/>
          </a:xfrm>
          <a:prstGeom prst="ellipse">
            <a:avLst/>
          </a:prstGeom>
          <a:solidFill>
            <a:srgbClr val="3E7C59"/>
          </a:solidFill>
          <a:ln/>
        </p:spPr>
      </p:sp>
      <p:sp>
        <p:nvSpPr>
          <p:cNvPr id="22" name="Text 20"/>
          <p:cNvSpPr/>
          <p:nvPr/>
        </p:nvSpPr>
        <p:spPr>
          <a:xfrm>
            <a:off x="6528816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501384" y="32004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 Business Sponsors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01384" y="3977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3E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first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501384" y="422452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Thesis · Portfolio &amp; waves · Metrics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01384" y="5029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my LOB’s value land, when?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34856" y="2286000"/>
            <a:ext cx="2743200" cy="3383280"/>
          </a:xfrm>
          <a:prstGeom prst="roundRect">
            <a:avLst>
              <a:gd name="adj" fmla="val 2667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9390888" y="2560320"/>
            <a:ext cx="457200" cy="45720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29" name="Text 27"/>
          <p:cNvSpPr/>
          <p:nvPr/>
        </p:nvSpPr>
        <p:spPr>
          <a:xfrm>
            <a:off x="9390888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363456" y="32004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Review Board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363456" y="3977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first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9363456" y="4224528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 · Standards · Risk tiers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9363456" y="50292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every system governed and auditable?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× AI Labs Framework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446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LEADERSHIP · SPONSORS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am not looking for 25 AI solutions.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am looking for an enterprise AI capability.”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one at a time, 25 use cases = 25 bespoke systems, 25 control sets, 25 audit problems.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capability = 6 reusable patterns on 4 shared platforms. The 2nd use case in a pattern ships in weeks.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3630168" cy="2240280"/>
          </a:xfrm>
          <a:prstGeom prst="roundRect">
            <a:avLst>
              <a:gd name="adj" fmla="val 3265"/>
            </a:avLst>
          </a:prstGeom>
          <a:solidFill>
            <a:srgbClr val="13293D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8862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452628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Reuse &amp; speed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4983480"/>
            <a:ext cx="3081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25 use cases into 6 archetypes on 4 platforms. Build once; configure many.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61688" y="3657600"/>
            <a:ext cx="3630168" cy="2240280"/>
          </a:xfrm>
          <a:prstGeom prst="roundRect">
            <a:avLst>
              <a:gd name="adj" fmla="val 3265"/>
            </a:avLst>
          </a:prstGeom>
          <a:solidFill>
            <a:srgbClr val="13293D"/>
          </a:solidFill>
          <a:ln w="12700">
            <a:solidFill>
              <a:srgbClr val="DCE9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38862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DCE9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636008" y="452628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Governance &amp; auditability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636008" y="4983480"/>
            <a:ext cx="3081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Risk-tier at intake. 4 standards as gates. Any Tier-1/2 output replayable in 1 business day.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74736" y="3657600"/>
            <a:ext cx="3630168" cy="2240280"/>
          </a:xfrm>
          <a:prstGeom prst="roundRect">
            <a:avLst>
              <a:gd name="adj" fmla="val 3265"/>
            </a:avLst>
          </a:prstGeom>
          <a:solidFill>
            <a:srgbClr val="13293D"/>
          </a:solidFill>
          <a:ln w="12700">
            <a:solidFill>
              <a:srgbClr val="9FC6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49056" y="38862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9FC6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449056" y="452628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Ownership &amp; accountability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49056" y="4983480"/>
            <a:ext cx="3081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owns demand + standards + target-state. AI Labs owns the platform. No overlap.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× AI Labs Framework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30000" y="6446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LEADERSHIP · ALL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ownership model is the contract spine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enterprise AI programs fail at the seam between platform and business. This defines the seam.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286000"/>
            <a:ext cx="265176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46120" y="2286000"/>
            <a:ext cx="4754880" cy="365760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 FOR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0" y="2286000"/>
            <a:ext cx="3593592" cy="365760"/>
          </a:xfrm>
          <a:prstGeom prst="rect">
            <a:avLst/>
          </a:prstGeom>
          <a:solidFill>
            <a:srgbClr val="5A6B7B"/>
          </a:solidFill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ACCOUNTABLE FOR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724912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724912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Labs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2724912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services, shared infra, reusable components, model ops, security controls, hosting.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92440" y="2724912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per use case, LOB evals, domain standards, demand prioritization.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758184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2F6F9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758184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 — LOB Architecture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291840" y="3758184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definition, architecture standards, target-state, evaluation criteria, patterns, MRM.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092440" y="3758184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engineering, model hosting, shared infrastructure build.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791456"/>
            <a:ext cx="1109167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4791456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LOB Delivery Teams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291840" y="4791456"/>
            <a:ext cx="4663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Use-case configuration, domain SME input, golden-set curation, user adoption.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92440" y="4791456"/>
            <a:ext cx="34747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Re-building what the platform already provides.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587044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brings the demand pipeline, the domain golden sets, and the MRM obligations — the things AI Labs cannot author without us.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× AI Labs Framework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430000" y="6446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AI LABS ENGINEERING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ask: 8 foundation services + 4 platforms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is the non-negotiable foundation (mostly W1). Part B is the target architecture. Each carries acceptance criteria CP will test.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212080" cy="3840480"/>
          </a:xfrm>
          <a:prstGeom prst="roundRect">
            <a:avLst>
              <a:gd name="adj" fmla="val 1905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4688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— PHASE 1 FOUNDATION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27614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these, teams build demos, not enterprise solutions.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315468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Gateway (data-class routing, kill switch)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Registry (versioned, read-only in prod)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Registry (pinning, model cards)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&amp; Trace Store (WORM, 1-day replay)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&amp; Knowledge Platform (entitled retrieval)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Processing (schemas, confidence, HITL)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Framework (golden sets, CI gates)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Controls (PII, injection, scoped creds)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989320" y="2286000"/>
            <a:ext cx="5650992" cy="3840480"/>
          </a:xfrm>
          <a:prstGeom prst="roundRect">
            <a:avLst>
              <a:gd name="adj" fmla="val 1905"/>
            </a:avLst>
          </a:prstGeom>
          <a:solidFill>
            <a:srgbClr val="1E3A5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17920" y="24688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FD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— FOUR PLATFORMS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2761488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architecture. Build once; CP configures per use case.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17920" y="3200400"/>
            <a:ext cx="5193792" cy="621792"/>
          </a:xfrm>
          <a:prstGeom prst="roundRect">
            <a:avLst>
              <a:gd name="adj" fmla="val 11765"/>
            </a:avLst>
          </a:prstGeom>
          <a:solidFill>
            <a:srgbClr val="13293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3200400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Knowledge &amp; RAG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784080" y="3200400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FD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≥10 use cases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913632"/>
            <a:ext cx="5193792" cy="621792"/>
          </a:xfrm>
          <a:prstGeom prst="roundRect">
            <a:avLst>
              <a:gd name="adj" fmla="val 11765"/>
            </a:avLst>
          </a:prstGeom>
          <a:solidFill>
            <a:srgbClr val="13293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3913632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 Intelligence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784080" y="3913632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FD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≥8 use cases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4626864"/>
            <a:ext cx="5193792" cy="621792"/>
          </a:xfrm>
          <a:prstGeom prst="roundRect">
            <a:avLst>
              <a:gd name="adj" fmla="val 11765"/>
            </a:avLst>
          </a:prstGeom>
          <a:solidFill>
            <a:srgbClr val="13293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4626864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Agent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784080" y="4626864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FD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≥6 use cases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17920" y="5340096"/>
            <a:ext cx="5193792" cy="621792"/>
          </a:xfrm>
          <a:prstGeom prst="roundRect">
            <a:avLst>
              <a:gd name="adj" fmla="val 11765"/>
            </a:avLst>
          </a:prstGeom>
          <a:solidFill>
            <a:srgbClr val="13293D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5340096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Predictive Intelligence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784080" y="5340096"/>
            <a:ext cx="1508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7FD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≥3 use cases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× AI Labs Framework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430000" y="6446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AI LABS ENG · ARB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Intake → production: the working interface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lifecycle that turns CP demand into a governed, AI Labs-hosted system. The piece neither source artifact yet specified.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2679192" cy="2651760"/>
          </a:xfrm>
          <a:prstGeom prst="roundRect">
            <a:avLst>
              <a:gd name="adj" fmla="val 2759"/>
            </a:avLst>
          </a:prstGeom>
          <a:solidFill>
            <a:srgbClr val="DCE9F0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49808" y="269748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Intake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49808" y="3246120"/>
            <a:ext cx="2276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· assign archetype + platform · define golden set &amp; standards profile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49808" y="4553712"/>
            <a:ext cx="2276856" cy="18288"/>
          </a:xfrm>
          <a:prstGeom prst="rect">
            <a:avLst/>
          </a:prstGeom>
          <a:solidFill>
            <a:srgbClr val="5A6B7B"/>
          </a:solidFill>
          <a:ln/>
        </p:spPr>
      </p:sp>
      <p:sp>
        <p:nvSpPr>
          <p:cNvPr id="10" name="Text 8"/>
          <p:cNvSpPr/>
          <p:nvPr/>
        </p:nvSpPr>
        <p:spPr>
          <a:xfrm>
            <a:off x="749808" y="4608576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Risk-tiering sign-off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 rot="5400000">
            <a:off x="3209544" y="3611880"/>
            <a:ext cx="164592" cy="292608"/>
          </a:xfrm>
          <a:prstGeom prst="rtTriangle">
            <a:avLst/>
          </a:prstGeom>
          <a:solidFill>
            <a:srgbClr val="0E7C7B"/>
          </a:solidFill>
          <a:ln/>
        </p:spPr>
      </p:sp>
      <p:sp>
        <p:nvSpPr>
          <p:cNvPr id="12" name="Shape 10"/>
          <p:cNvSpPr/>
          <p:nvPr/>
        </p:nvSpPr>
        <p:spPr>
          <a:xfrm>
            <a:off x="3346704" y="2468880"/>
            <a:ext cx="2679192" cy="2651760"/>
          </a:xfrm>
          <a:prstGeom prst="roundRect">
            <a:avLst>
              <a:gd name="adj" fmla="val 2759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47872" y="269748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Build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47872" y="3246120"/>
            <a:ext cx="2276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(schemas, entitlements, rules, prompts) · AI Labs runs CI evals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547872" y="4553712"/>
            <a:ext cx="2276856" cy="18288"/>
          </a:xfrm>
          <a:prstGeom prst="rect">
            <a:avLst/>
          </a:prstGeom>
          <a:solidFill>
            <a:srgbClr val="5A6B7B"/>
          </a:solidFill>
          <a:ln/>
        </p:spPr>
      </p:sp>
      <p:sp>
        <p:nvSpPr>
          <p:cNvPr id="16" name="Text 14"/>
          <p:cNvSpPr/>
          <p:nvPr/>
        </p:nvSpPr>
        <p:spPr>
          <a:xfrm>
            <a:off x="3547872" y="4608576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maturity shown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 rot="5400000">
            <a:off x="6007608" y="3611880"/>
            <a:ext cx="164592" cy="292608"/>
          </a:xfrm>
          <a:prstGeom prst="rtTriangle">
            <a:avLst/>
          </a:prstGeom>
          <a:solidFill>
            <a:srgbClr val="0E7C7B"/>
          </a:solidFill>
          <a:ln/>
        </p:spPr>
      </p:sp>
      <p:sp>
        <p:nvSpPr>
          <p:cNvPr id="18" name="Shape 16"/>
          <p:cNvSpPr/>
          <p:nvPr/>
        </p:nvSpPr>
        <p:spPr>
          <a:xfrm>
            <a:off x="6144768" y="2468880"/>
            <a:ext cx="2679192" cy="2651760"/>
          </a:xfrm>
          <a:prstGeom prst="roundRect">
            <a:avLst>
              <a:gd name="adj" fmla="val 2759"/>
            </a:avLst>
          </a:prstGeom>
          <a:solidFill>
            <a:srgbClr val="DCE9F0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45936" y="269748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Release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345936" y="3246120"/>
            <a:ext cx="2276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acceptance criteria · pass all 6 evals · produce audit replay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45936" y="4553712"/>
            <a:ext cx="2276856" cy="18288"/>
          </a:xfrm>
          <a:prstGeom prst="rect">
            <a:avLst/>
          </a:prstGeom>
          <a:solidFill>
            <a:srgbClr val="5A6B7B"/>
          </a:solidFill>
          <a:ln/>
        </p:spPr>
      </p:sp>
      <p:sp>
        <p:nvSpPr>
          <p:cNvPr id="22" name="Text 20"/>
          <p:cNvSpPr/>
          <p:nvPr/>
        </p:nvSpPr>
        <p:spPr>
          <a:xfrm>
            <a:off x="6345936" y="4608576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 gate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 rot="5400000">
            <a:off x="8805672" y="3611880"/>
            <a:ext cx="164592" cy="292608"/>
          </a:xfrm>
          <a:prstGeom prst="rtTriangle">
            <a:avLst/>
          </a:prstGeom>
          <a:solidFill>
            <a:srgbClr val="0E7C7B"/>
          </a:solidFill>
          <a:ln/>
        </p:spPr>
      </p:sp>
      <p:sp>
        <p:nvSpPr>
          <p:cNvPr id="24" name="Shape 22"/>
          <p:cNvSpPr/>
          <p:nvPr/>
        </p:nvSpPr>
        <p:spPr>
          <a:xfrm>
            <a:off x="8942832" y="2468880"/>
            <a:ext cx="2679192" cy="2651760"/>
          </a:xfrm>
          <a:prstGeom prst="roundRect">
            <a:avLst>
              <a:gd name="adj" fmla="val 2759"/>
            </a:avLst>
          </a:prstGeom>
          <a:solidFill>
            <a:srgbClr val="F2F6F9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9144000" y="2697480"/>
            <a:ext cx="2276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Operate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144000" y="3246120"/>
            <a:ext cx="227685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MRM revalidation · golden-set refresh · drift/latency/cost monitoring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144000" y="4553712"/>
            <a:ext cx="2276856" cy="18288"/>
          </a:xfrm>
          <a:prstGeom prst="rect">
            <a:avLst/>
          </a:prstGeom>
          <a:solidFill>
            <a:srgbClr val="5A6B7B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0" y="4608576"/>
            <a:ext cx="2276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eval review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54864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rule: no production output from an unregistered prompt, an unentitled retrieval, or an un-evaluated model. The gate is architectural.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× AI Labs Framework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30000" y="6446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3E7C59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SPONSORS · ARB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 use cases, sequenced into 4 waves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 compounds: each wave’s exit criteria are the next wave’s entry criteria. Tiers: 5 / 13 / 7.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2514600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463040" y="2331720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 mo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233172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 trust-builders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035040" y="23317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Drafts-only, high volume, low blast radius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0698480" y="2331720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48640" y="3319272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2F6F9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502152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502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463040" y="3319272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743200" y="3319272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Evidence-drafting at scale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35040" y="3319272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cores proven; archetype services productized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0698480" y="3319272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548640" y="4306824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31520" y="4489704"/>
            <a:ext cx="548640" cy="548640"/>
          </a:xfrm>
          <a:prstGeom prst="ellipse">
            <a:avLst/>
          </a:prstGeom>
          <a:solidFill>
            <a:srgbClr val="3E7C59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4897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63040" y="4306824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6–12 mo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0" y="4306824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Regulated &amp; client-sensitive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035040" y="4306824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Covenant monitor, fee compliance, K-1, relationship memory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0698480" y="4306824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E7C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548640" y="5294376"/>
            <a:ext cx="11091672" cy="914400"/>
          </a:xfrm>
          <a:prstGeom prst="roundRect">
            <a:avLst>
              <a:gd name="adj" fmla="val 8000"/>
            </a:avLst>
          </a:prstGeom>
          <a:solidFill>
            <a:srgbClr val="F2F6F9"/>
          </a:solidFill>
          <a:ln/>
        </p:spPr>
      </p:sp>
      <p:sp>
        <p:nvSpPr>
          <p:cNvPr id="28" name="Shape 26"/>
          <p:cNvSpPr/>
          <p:nvPr/>
        </p:nvSpPr>
        <p:spPr>
          <a:xfrm>
            <a:off x="731520" y="5477256"/>
            <a:ext cx="548640" cy="548640"/>
          </a:xfrm>
          <a:prstGeom prst="ellipse">
            <a:avLst/>
          </a:prstGeom>
          <a:solidFill>
            <a:srgbClr val="B5651D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54772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W4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463040" y="5294376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mo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743200" y="5294376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Fiduciary &amp; funding-critical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35040" y="5294376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Mature platform, permanent propose-only posture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0698480" y="5294376"/>
            <a:ext cx="822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565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× AI Labs Framework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430000" y="6446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B5651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ARCHITECTURE REVIEW BOARD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standards · three tiers · one gate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production AI solution satisfies all four standards, verified at the architecture review gate.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6675120" cy="914400"/>
          </a:xfrm>
          <a:prstGeom prst="roundRect">
            <a:avLst>
              <a:gd name="adj" fmla="val 8000"/>
            </a:avLst>
          </a:prstGeom>
          <a:solidFill>
            <a:srgbClr val="F2F6F9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2514600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2441448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Traceability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2788920"/>
            <a:ext cx="5623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Replayable evidence chain; Tier-1/2 in 1 business day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548640" y="3319272"/>
            <a:ext cx="6675120" cy="914400"/>
          </a:xfrm>
          <a:prstGeom prst="roundRect">
            <a:avLst>
              <a:gd name="adj" fmla="val 8000"/>
            </a:avLst>
          </a:prstGeom>
          <a:solidFill>
            <a:srgbClr val="F2F6F9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3502152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5021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342900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Explainability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3776472"/>
            <a:ext cx="5623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+ citation + confidence; citation-or-silence for regulated domains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48640" y="4306824"/>
            <a:ext cx="6675120" cy="914400"/>
          </a:xfrm>
          <a:prstGeom prst="roundRect">
            <a:avLst>
              <a:gd name="adj" fmla="val 8000"/>
            </a:avLst>
          </a:prstGeom>
          <a:solidFill>
            <a:srgbClr val="F2F6F9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4489704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4897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4416552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4764024"/>
            <a:ext cx="5623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at retrieval; PII pre-model; scoped agents; tamper-evident audit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548640" y="5294376"/>
            <a:ext cx="6675120" cy="914400"/>
          </a:xfrm>
          <a:prstGeom prst="roundRect">
            <a:avLst>
              <a:gd name="adj" fmla="val 8000"/>
            </a:avLst>
          </a:prstGeom>
          <a:solidFill>
            <a:srgbClr val="F2F6F9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5477256"/>
            <a:ext cx="548640" cy="548640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54772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3040" y="5404104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63040" y="5751576"/>
            <a:ext cx="5623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8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by blast radius; Tier-1 propose-only permanently; no AI-to-AI approval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7406640" y="2331720"/>
            <a:ext cx="4233672" cy="3950208"/>
          </a:xfrm>
          <a:prstGeom prst="roundRect">
            <a:avLst>
              <a:gd name="adj" fmla="val 1852"/>
            </a:avLst>
          </a:prstGeom>
          <a:solidFill>
            <a:srgbClr val="1E3A5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635240" y="248716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FD4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TIERS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635240" y="292608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8549640" y="29718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D4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1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549640" y="329184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Propose-only, permanently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635240" y="397764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8549640" y="40233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D4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2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549640" y="4343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with approval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35240" y="502920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35" name="Text 33"/>
          <p:cNvSpPr/>
          <p:nvPr/>
        </p:nvSpPr>
        <p:spPr>
          <a:xfrm>
            <a:off x="8549640" y="5074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FD4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Tier 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8549640" y="5394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w/ sampled review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× AI Labs Framework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430000" y="6446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9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0E7C7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114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LEADERSHIP · SPONSORS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is not chatbot count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targets at twelve months — the numbers a sponsor and a CTO can both hold the program to.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3630168" cy="182880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60320"/>
            <a:ext cx="3081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FD4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≥15 / 25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822960" y="3383280"/>
            <a:ext cx="3081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on shared platforms, not bespoke builds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61688" y="2331720"/>
            <a:ext cx="3630168" cy="182880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2560320"/>
            <a:ext cx="3081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FD4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≤4 wks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4636008" y="3383280"/>
            <a:ext cx="3081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onboard the 2nd use case in an established archetype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74736" y="2331720"/>
            <a:ext cx="3630168" cy="182880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49056" y="2560320"/>
            <a:ext cx="3081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FD4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449056" y="3383280"/>
            <a:ext cx="3081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Tier-1/2 use cases with a golden set + CI gate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343400"/>
            <a:ext cx="3630168" cy="182880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572000"/>
            <a:ext cx="3081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FD4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day</a:t>
            </a:r>
            <a:endParaRPr lang="en-US" sz="3400" dirty="0"/>
          </a:p>
        </p:txBody>
      </p:sp>
      <p:sp>
        <p:nvSpPr>
          <p:cNvPr id="17" name="Text 15"/>
          <p:cNvSpPr/>
          <p:nvPr/>
        </p:nvSpPr>
        <p:spPr>
          <a:xfrm>
            <a:off x="822960" y="5394960"/>
            <a:ext cx="3081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reproduce any Tier-1/2 output for examiners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361688" y="4343400"/>
            <a:ext cx="3630168" cy="182880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36008" y="4572000"/>
            <a:ext cx="3081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FD4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4636008" y="5394960"/>
            <a:ext cx="3081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Tier-1 outputs released without maker-checker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174736" y="4343400"/>
            <a:ext cx="3630168" cy="1828800"/>
          </a:xfrm>
          <a:prstGeom prst="roundRect">
            <a:avLst>
              <a:gd name="adj" fmla="val 4000"/>
            </a:avLst>
          </a:prstGeom>
          <a:solidFill>
            <a:srgbClr val="1E3A5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49056" y="4572000"/>
            <a:ext cx="3081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FD4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 task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8449056" y="5394960"/>
            <a:ext cx="30815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resolved outcome tracked, under budget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 × AI Labs Framework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4465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029200" cy="5029200"/>
          </a:xfrm>
          <a:prstGeom prst="ellipse">
            <a:avLst/>
          </a:prstGeom>
          <a:solidFill>
            <a:srgbClr val="13293D"/>
          </a:solidFill>
          <a:ln w="12700">
            <a:solidFill>
              <a:srgbClr val="1329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 to AI Labs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011680"/>
            <a:ext cx="3657600" cy="0"/>
          </a:xfrm>
          <a:prstGeom prst="line">
            <a:avLst/>
          </a:prstGeom>
          <a:noFill/>
          <a:ln w="31750">
            <a:solidFill>
              <a:srgbClr val="0E7C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377440"/>
            <a:ext cx="10607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8 Phase-1 foundation services in Wave 1 — gateway, registries, audit store, eval harness, security layer.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to the 4 platforms with the reuse targets (≥10 / ≥8 / ≥6 / ≥3) as the 12-month architecture.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 the Intake→Production contract so CP configures and AI Labs operates — clean ownership, no overlap.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DC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Co-own the eval framework: CP curates golden sets and thresholds; AI Labs runs CI and produces audit replays.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548640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FD4D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 brings the demand. AI Labs brings the platform. Together that is an enterprise AI capability.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 × AI Labs — Enterprise Agentic AI Framework</dc:title>
  <dc:subject>PptxGenJS Presentation</dc:subject>
  <dc:creator>CP Platform &amp; Technology Solution Architecture</dc:creator>
  <cp:lastModifiedBy>CP Platform &amp; Technology Solution Architecture</cp:lastModifiedBy>
  <cp:revision>1</cp:revision>
  <dcterms:created xsi:type="dcterms:W3CDTF">2026-06-16T15:17:13Z</dcterms:created>
  <dcterms:modified xsi:type="dcterms:W3CDTF">2026-06-16T15:17:13Z</dcterms:modified>
</cp:coreProperties>
</file>