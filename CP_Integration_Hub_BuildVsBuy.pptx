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Hardware (1-time)</c:v>
                </c:pt>
              </c:strCache>
            </c:strRef>
          </c:tx>
          <c:spPr>
            <a:solidFill>
              <a:srgbClr val="2E7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Option A — BBH Infra</c:v>
                  </c:pt>
                  <c:pt idx="1">
                    <c:v>Option B — SEI SDC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Support 2 FTE × 5yr</c:v>
                </c:pt>
              </c:strCache>
            </c:strRef>
          </c:tx>
          <c:spPr>
            <a:solidFill>
              <a:srgbClr val="1F3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Option A — BBH Infra</c:v>
                  </c:pt>
                  <c:pt idx="1">
                    <c:v>Option B — SEI SDC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1.75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SDC platform / consumption</c:v>
                </c:pt>
              </c:strCache>
            </c:strRef>
          </c:tx>
          <c:spPr>
            <a:solidFill>
              <a:srgbClr val="5B6B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Option A — BBH Infra</c:v>
                  </c:pt>
                  <c:pt idx="1">
                    <c:v>Option B — SEI SDC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3.375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Integration Hub — Build In-House vs. Buy SEI SDC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1417320"/>
            <a:ext cx="12161520" cy="566928"/>
          </a:xfrm>
          <a:prstGeom prst="rect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where we build the data-integration platform underpinning the SWP accounting migration — and Capital Partners' broader data strategy. The SEI build money is committed either way; the question is which platform it stands up.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5440680" cy="1993392"/>
          </a:xfrm>
          <a:prstGeom prst="roundRect">
            <a:avLst>
              <a:gd name="adj" fmla="val 3670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432304"/>
            <a:ext cx="475488" cy="475488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4203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BUILD IN-HOUSE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· dbt · Oracle on BBH OpenShift / ODH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3054096"/>
            <a:ext cx="49377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owns a reusable platform; ETL runs on BBH infra, curated data pushed to Databricks.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aligned · cost-predictable · low lock-in.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54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risk: operational-support capacity (2 FTE).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2212848"/>
            <a:ext cx="5440680" cy="1993392"/>
          </a:xfrm>
          <a:prstGeom prst="roundRect">
            <a:avLst>
              <a:gd name="adj" fmla="val 3670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432304"/>
            <a:ext cx="475488" cy="475488"/>
          </a:xfrm>
          <a:prstGeom prst="ellipse">
            <a:avLst/>
          </a:prstGeom>
          <a:solidFill>
            <a:srgbClr val="5B6B7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551176"/>
            <a:ext cx="256032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0880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BUY SEI SDC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040880" y="26700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on Azure — SEI-built &amp; SEI-managed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446520" y="3054096"/>
            <a:ext cx="49377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lowest execution risk; fully SEI-supported — no BBH headcount.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54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cost scales steeply: ~$986K Yr1 / ~$3.375M over 5 yrs.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lock-in; strategically orphaned vs. BBH Databricks direction.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437083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E8F1F3"/>
          </a:solidFill>
          <a:ln w="12700">
            <a:solidFill>
              <a:srgbClr val="2E7D8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6285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4370832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pPr indent="0" marL="0">
              <a:buNone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minimizes near-term execution risk but builds no reusable BBH asset — we would rent a transformation layer we must build anyway for the wider data strategy. In-house carries higher execution/support risk but delivers the foundational platform BBH needs.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5230368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41324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70432" y="5285232"/>
            <a:ext cx="6583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in-house as the strategic platform — contingent on securing committed operational-support capacity (2 FTE). Use SDC only as a time-boxed bridge with a funded, dated Databricks exit.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001000" y="5230368"/>
            <a:ext cx="3611880" cy="1005840"/>
          </a:xfrm>
          <a:prstGeom prst="roundRect">
            <a:avLst>
              <a:gd name="adj" fmla="val 5455"/>
            </a:avLst>
          </a:prstGeom>
          <a:solidFill>
            <a:srgbClr val="1F3B57"/>
          </a:solidFill>
          <a:ln/>
        </p:spPr>
      </p:sp>
      <p:sp>
        <p:nvSpPr>
          <p:cNvPr id="26" name="Text 20"/>
          <p:cNvSpPr/>
          <p:nvPr/>
        </p:nvSpPr>
        <p:spPr>
          <a:xfrm>
            <a:off x="8183880" y="53400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183880" y="55595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in-house build + commit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FTE support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~$200K hardware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(one-time).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|  Capital Partners Technology  |  Confidential &amp; Proprietary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969264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SWP point-fix — a foundational, reusable platform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decision sets up infrastructure that multiple business functions will reuse and that anchors BBH Capital Partners' data strategy. Evaluate it as a platform investment, not a one-off accounting feed.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3630168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304288"/>
            <a:ext cx="566928" cy="566928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43230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01752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integration platform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31520" y="34930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ETL/orchestration backbone (Airflow + dbt) serves SWP accounting first, then other CP business functions — built once, reused many times.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70248" y="2011680"/>
            <a:ext cx="3630168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62856" y="2304288"/>
            <a:ext cx="566928" cy="566928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43230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44568" y="301752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Heavy-lift ETL on BBH infra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44568" y="34930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Compute-intensive transformation runs on BBH-owned OpenShift, where we control cost, scaling, and governance (NYDFS, lineage).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83296" y="2011680"/>
            <a:ext cx="3630168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2304288"/>
            <a:ext cx="566928" cy="566928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43230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7616" y="301752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On-ramp to BBH Databricks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357616" y="34930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transformed data is pushed to Databricks as the analytics / ML engine — the platform is the bridge to the target data strategy.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461772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1F3B57"/>
          </a:solidFill>
          <a:ln/>
        </p:spPr>
      </p:sp>
      <p:sp>
        <p:nvSpPr>
          <p:cNvPr id="22" name="Text 16"/>
          <p:cNvSpPr/>
          <p:nvPr/>
        </p:nvSpPr>
        <p:spPr>
          <a:xfrm>
            <a:off x="713232" y="4754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13232" y="499262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 not "cheapest way to deliver SWP" — it is "do we rent a throwaway platform, or fund the foundational one BBH needs regardless?" Every dollar spent on SDC builds nothing we keep; the in-house platform is required for the broader strategy either way.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|  Capital Partners Technology  |  Confidential &amp; Proprietary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 MONEY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969264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vs. Buy — same SEI spend, two platforms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SEI professional-services build cost is committed in both options. What differs is where it lands, who runs it, recurring cost, and whether BBH ends up owning a reusable asset.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38912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 — BBH Infra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 — SEI SDC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 PS spend  (≈ same)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 PS spend  (≈ same)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run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BBH infra only — low, predictable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SDC platform/consumption  (~$986K/yr-class)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BBH builds &amp; owns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SEI builds &amp; supports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FTE — BBH capacity (key risk)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— SEI-managed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— reusable, → Databricks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Orphaned — Snowflake, no BBH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ownership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BBH owns platform +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on SEI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(SEI + Snowflake)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650992"/>
            <a:ext cx="1124712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56509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 </a:t>
            </a:r>
            <a:pPr indent="0" marL="0">
              <a:buNone/>
            </a:pPr>
            <a:r>
              <a:rPr lang="en-US" sz="11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build cost is roughly a wash, the decision reduces to recurring run cost, who carries execution &amp; support risk, and whether BBH owns a reusable strategic asset — or rents one.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|  Capital Partners Technology  |  Confidential &amp; Proprietary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969264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Heavy-lift ETL on BBH infra → Databricks for analytics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pattern BBH is moving toward: own the transformation compute; send curated data to the analytics/ML engine.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2468880" cy="2331720"/>
          </a:xfrm>
          <a:prstGeom prst="roundRect">
            <a:avLst>
              <a:gd name="adj" fmla="val 2353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2697480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697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(SEI accounting)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3118104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118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data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3538728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538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/ CRM / PM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" y="3959352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959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internal APIs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29000" y="2148840"/>
            <a:ext cx="4892040" cy="2331720"/>
          </a:xfrm>
          <a:prstGeom prst="roundRect">
            <a:avLst>
              <a:gd name="adj" fmla="val 235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14300" dist="50800" dir="5400000">
              <a:srgbClr val="9AAAB2">
                <a:alpha val="2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3682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87368" y="23500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CP INTEGRATION HUB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703320" y="269748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Heavy-lift ETL on BBH OpenShift / ODH  ·  BBH-owned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703320" y="306324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2C4F6B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4904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875020" y="306324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2C4F6B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2074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(B/S/G)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703320" y="3721608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2C4F6B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49040" y="37216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PBDW / IMDW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875020" y="3721608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2C4F6B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920740" y="37216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NYDFS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823960" y="2148840"/>
            <a:ext cx="2880360" cy="2331720"/>
          </a:xfrm>
          <a:prstGeom prst="roundRect">
            <a:avLst>
              <a:gd name="adj" fmla="val 2353"/>
            </a:avLst>
          </a:prstGeom>
          <a:solidFill>
            <a:srgbClr val="2E7D8F"/>
          </a:solidFill>
          <a:ln/>
          <a:effectLst>
            <a:outerShdw sx="100000" sy="100000" kx="0" ky="0" algn="bl" rotWithShape="0" blurRad="114300" dist="50800" dir="5400000">
              <a:srgbClr val="9AAAB2">
                <a:alpha val="20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368296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482328" y="23500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DATABRICKS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9098280" y="26974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C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ML engine — future state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9052560" y="3063240"/>
            <a:ext cx="2423160" cy="274320"/>
          </a:xfrm>
          <a:prstGeom prst="roundRect">
            <a:avLst>
              <a:gd name="adj" fmla="val 13333"/>
            </a:avLst>
          </a:prstGeom>
          <a:solidFill>
            <a:srgbClr val="215C68"/>
          </a:solidFill>
          <a:ln/>
        </p:spPr>
      </p:sp>
      <p:sp>
        <p:nvSpPr>
          <p:cNvPr id="33" name="Text 28"/>
          <p:cNvSpPr/>
          <p:nvPr/>
        </p:nvSpPr>
        <p:spPr>
          <a:xfrm>
            <a:off x="909828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Gold data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9052560" y="3392424"/>
            <a:ext cx="2423160" cy="274320"/>
          </a:xfrm>
          <a:prstGeom prst="roundRect">
            <a:avLst>
              <a:gd name="adj" fmla="val 13333"/>
            </a:avLst>
          </a:prstGeom>
          <a:solidFill>
            <a:srgbClr val="215C68"/>
          </a:solidFill>
          <a:ln/>
        </p:spPr>
      </p:sp>
      <p:sp>
        <p:nvSpPr>
          <p:cNvPr id="35" name="Text 30"/>
          <p:cNvSpPr/>
          <p:nvPr/>
        </p:nvSpPr>
        <p:spPr>
          <a:xfrm>
            <a:off x="9098280" y="3392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9052560" y="3721608"/>
            <a:ext cx="2423160" cy="274320"/>
          </a:xfrm>
          <a:prstGeom prst="roundRect">
            <a:avLst>
              <a:gd name="adj" fmla="val 13333"/>
            </a:avLst>
          </a:prstGeom>
          <a:solidFill>
            <a:srgbClr val="215C68"/>
          </a:solidFill>
          <a:ln/>
        </p:spPr>
      </p:sp>
      <p:sp>
        <p:nvSpPr>
          <p:cNvPr id="37" name="Text 32"/>
          <p:cNvSpPr/>
          <p:nvPr/>
        </p:nvSpPr>
        <p:spPr>
          <a:xfrm>
            <a:off x="9098280" y="3721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workloads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9052560" y="4050792"/>
            <a:ext cx="2423160" cy="274320"/>
          </a:xfrm>
          <a:prstGeom prst="roundRect">
            <a:avLst>
              <a:gd name="adj" fmla="val 13333"/>
            </a:avLst>
          </a:prstGeom>
          <a:solidFill>
            <a:srgbClr val="215C68"/>
          </a:solidFill>
          <a:ln/>
        </p:spPr>
      </p:sp>
      <p:sp>
        <p:nvSpPr>
          <p:cNvPr id="39" name="Text 34"/>
          <p:cNvSpPr/>
          <p:nvPr/>
        </p:nvSpPr>
        <p:spPr>
          <a:xfrm>
            <a:off x="9098280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 reuse</a:t>
            </a:r>
            <a:endParaRPr lang="en-US" sz="95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3150108"/>
            <a:ext cx="384048" cy="329184"/>
          </a:xfrm>
          <a:prstGeom prst="rect">
            <a:avLst/>
          </a:prstGeom>
        </p:spPr>
      </p:pic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150108"/>
            <a:ext cx="384048" cy="329184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457200" y="470916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 w="12700">
            <a:solidFill>
              <a:srgbClr val="2E7D8F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882896"/>
            <a:ext cx="31089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97280" y="47091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build, one direction.   </a:t>
            </a:r>
            <a:pPr indent="0" marL="0">
              <a:buNone/>
            </a:pPr>
            <a:r>
              <a:rPr lang="en-US" sz="11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transformation logic lives in portable dbt models, the Hub's output can be re-pointed to Databricks with no re-platforming — there is no "second migration." The same platform later serves other CP business functions.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|  Capital Partners Technology  |  Confidential &amp; Proprietary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ECONOMICS &amp; RISK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969264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TCO comparison + risk posture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9893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4813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forward cost  (build cost cancels out)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828800"/>
          <a:ext cx="5669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629400" y="13716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629400" y="15179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5-YR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62940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~$1.7–2.2M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6629400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HW + 2 FTE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BBH owns the asset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9281160" y="13716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F4F8F9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281160" y="15179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5-YR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28116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54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~$3.375M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9281160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SDC spend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asset retained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629400" y="301752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1F3B57"/>
          </a:solidFill>
          <a:ln/>
        </p:spPr>
      </p:sp>
      <p:sp>
        <p:nvSpPr>
          <p:cNvPr id="17" name="Text 13"/>
          <p:cNvSpPr/>
          <p:nvPr/>
        </p:nvSpPr>
        <p:spPr>
          <a:xfrm>
            <a:off x="6812280" y="3017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~$1.2–1.7M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saving over 5 yrs — plus a reusable platform and the Databricks on-ramp.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629400" y="376732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2 FTE @ ~$175K loaded/yr (adjustable). SDC figures per SEI SDC pricing (~$986K Yr1 / ~$3.375M 5-yr). Support FTEs fairly included in Option A so the comparison holds under ARB scrutiny.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5720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POSTURE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9262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8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overrun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8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misalign.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8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83D"/>
                    </a:solidFill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7269480" y="4736592"/>
            <a:ext cx="4434840" cy="1508760"/>
          </a:xfrm>
          <a:prstGeom prst="roundRect">
            <a:avLst>
              <a:gd name="adj" fmla="val 3636"/>
            </a:avLst>
          </a:prstGeom>
          <a:solidFill>
            <a:srgbClr val="E8F1F3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98080" y="4864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risk-appetite call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498080" y="5157216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concentrates risk in operational support — the one flank to manage. Option B trades millions in recurring cost and strategic alignment to remove BBH execution risk. The sponsor decides which posture BBH accepts.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|  Capital Partners Technology  |  Confidential &amp; Proprietary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DETOUR?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969264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use SDC now → BBH Databricks later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paid SEI professional services to build, so SDC can run today. The question: is renting Snowflake a sensible bridge — given the Databricks endpoint — or a costly detour?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671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benefits of an SDC bridge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13232" y="267919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sunk SEI build — fastest, lowest-risk way to hit the SWP cutover.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carries operational support through the highest-risk migration window.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is SQL-native — clean fit for regulated accounting workloads today.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time for BBH Databricks to mature before committing analytics/ML.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dbt models can largely be re-pointed to Databricks later.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6217920" y="196596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2">
                <a:alpha val="14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1671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the SDC → Databricks move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73952" y="267919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migrations, not one — pay to land on Snowflake, then pay again to exit.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compounds: SDC consumption continues while Databricks is built in parallel.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BBH Snowflake strategy — SDC risks becoming orphaned / throwaway spend.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Re-validation on exit: NYDFS, bi-temporal / SCD2 accounting data, egress.</a:t>
            </a:r>
            <a:endParaRPr lang="en-US" sz="108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+ Snowflake lock-in may make extraction harder than planned; skills split.</a:t>
            </a:r>
            <a:endParaRPr lang="en-US" sz="1080" dirty="0"/>
          </a:p>
        </p:txBody>
      </p:sp>
      <p:sp>
        <p:nvSpPr>
          <p:cNvPr id="14" name="Shape 9"/>
          <p:cNvSpPr/>
          <p:nvPr/>
        </p:nvSpPr>
        <p:spPr>
          <a:xfrm>
            <a:off x="457200" y="484632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1F3B57"/>
          </a:solidFill>
          <a:ln/>
        </p:spPr>
      </p:sp>
      <p:sp>
        <p:nvSpPr>
          <p:cNvPr id="15" name="Text 10"/>
          <p:cNvSpPr/>
          <p:nvPr/>
        </p:nvSpPr>
        <p:spPr>
          <a:xfrm>
            <a:off x="713232" y="4974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13232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SDC bridge is viable only if time-boxed with a funded, dated Databricks exit. Without that discipline it becomes permanent recurring cost with no BBH platform equity — the worst of both options.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|  Capital Partners Technology  |  Confidential &amp; Proprietary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in-house as the strategic platform — with eyes open on support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2788920"/>
          </a:xfrm>
          <a:prstGeom prst="roundRect">
            <a:avLst>
              <a:gd name="adj" fmla="val 1967"/>
            </a:avLst>
          </a:prstGeom>
          <a:solidFill>
            <a:srgbClr val="2443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39696"/>
            <a:ext cx="6263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CP Integration Hub in-house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BBH OpenShift / ODH (Airflow · dbt · Oracle), with heavy-lift ETL on BBH infra and curated data pushed to BBH Databricks.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8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on: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2 FTE of operational-support capacity — the one risk that must be owned, not assumed.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8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SDC only as a time-boxed bridge with a funded, dated Databricks exit — never as the end state.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98080" y="1508760"/>
            <a:ext cx="4114800" cy="2788920"/>
          </a:xfrm>
          <a:prstGeom prst="roundRect">
            <a:avLst>
              <a:gd name="adj" fmla="val 1967"/>
            </a:avLst>
          </a:prstGeom>
          <a:solidFill>
            <a:srgbClr val="2E7D8F"/>
          </a:solidFill>
          <a:ln/>
        </p:spPr>
      </p:sp>
      <p:sp>
        <p:nvSpPr>
          <p:cNvPr id="9" name="Text 6"/>
          <p:cNvSpPr/>
          <p:nvPr/>
        </p:nvSpPr>
        <p:spPr>
          <a:xfrm>
            <a:off x="772668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210312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~$1.2–1.7M lower 5-yr cost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C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owns a reusable platform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C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other CP functions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C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on-ramp to Databricks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C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Snowflake lock-in / detour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C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BBH data strategy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73659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47365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what we need the sponsor to approve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280160" y="5230368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5" name="Text 11"/>
          <p:cNvSpPr/>
          <p:nvPr/>
        </p:nvSpPr>
        <p:spPr>
          <a:xfrm>
            <a:off x="12801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737360" y="517550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decision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in-house build as the strategic CP platform.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5230368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8" name="Text 14"/>
          <p:cNvSpPr/>
          <p:nvPr/>
        </p:nvSpPr>
        <p:spPr>
          <a:xfrm>
            <a:off x="47091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66360" y="517550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capacity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2 FTE for ongoing operational support.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38160" y="5230368"/>
            <a:ext cx="365760" cy="36576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1" name="Text 17"/>
          <p:cNvSpPr/>
          <p:nvPr/>
        </p:nvSpPr>
        <p:spPr>
          <a:xfrm>
            <a:off x="81381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595360" y="517550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~$200K one-time CP OpenShift node.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|  Capital Partners Technology  |  Confidential &amp; Proprietary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 Integration Hub — Build vs. Buy</dc:title>
  <dc:subject>PptxGenJS Presentation</dc:subject>
  <dc:creator>Aneesh — BBH Capital Partners Technology</dc:creator>
  <cp:lastModifiedBy>Aneesh — BBH Capital Partners Technology</cp:lastModifiedBy>
  <cp:revision>1</cp:revision>
  <dcterms:created xsi:type="dcterms:W3CDTF">2026-06-13T23:04:41Z</dcterms:created>
  <dcterms:modified xsi:type="dcterms:W3CDTF">2026-06-13T23:04:41Z</dcterms:modified>
</cp:coreProperties>
</file>